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2" r:id="rId4"/>
    <p:sldId id="272" r:id="rId5"/>
    <p:sldId id="263" r:id="rId6"/>
    <p:sldId id="267" r:id="rId7"/>
    <p:sldId id="265" r:id="rId8"/>
    <p:sldId id="271" r:id="rId9"/>
    <p:sldId id="266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4660"/>
  </p:normalViewPr>
  <p:slideViewPr>
    <p:cSldViewPr snapToGrid="0">
      <p:cViewPr varScale="1">
        <p:scale>
          <a:sx n="78" d="100"/>
          <a:sy n="78" d="100"/>
        </p:scale>
        <p:origin x="7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395FD1-A619-441B-9C33-75DF1228A09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037E1CA-8594-41BB-AFDF-697C77CC9A6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0" cap="none" dirty="0" err="1"/>
            <a:t>Xgboost</a:t>
          </a:r>
          <a:r>
            <a:rPr lang="en-US" sz="1400" b="0" cap="none" dirty="0"/>
            <a:t> was chosen because it performs well on structured, imbalanced financial datasets</a:t>
          </a:r>
          <a:r>
            <a:rPr lang="en-US" sz="1400" b="1" cap="none" dirty="0"/>
            <a:t>.</a:t>
          </a:r>
        </a:p>
      </dgm:t>
    </dgm:pt>
    <dgm:pt modelId="{9D46520F-857E-4D1C-AB94-70C32B7CC2B9}" type="parTrans" cxnId="{66303300-B1C6-4609-BC19-97424D805EC4}">
      <dgm:prSet/>
      <dgm:spPr/>
      <dgm:t>
        <a:bodyPr/>
        <a:lstStyle/>
        <a:p>
          <a:endParaRPr lang="en-US"/>
        </a:p>
      </dgm:t>
    </dgm:pt>
    <dgm:pt modelId="{C8DFE21C-4D26-4B93-B584-0545F46E79CF}" type="sibTrans" cxnId="{66303300-B1C6-4609-BC19-97424D805EC4}">
      <dgm:prSet/>
      <dgm:spPr/>
      <dgm:t>
        <a:bodyPr/>
        <a:lstStyle/>
        <a:p>
          <a:endParaRPr lang="en-US"/>
        </a:p>
      </dgm:t>
    </dgm:pt>
    <dgm:pt modelId="{1B3ECCC1-A835-4283-B7CB-851C7DD73AD5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0" cap="none" dirty="0"/>
            <a:t>A key parameter, </a:t>
          </a:r>
          <a:r>
            <a:rPr lang="en-US" sz="1400" b="1" i="1" cap="none" dirty="0" err="1"/>
            <a:t>scale_pos_weight</a:t>
          </a:r>
          <a:r>
            <a:rPr lang="en-US" sz="1400" b="0" cap="none" dirty="0"/>
            <a:t>, was used to compensate for the lower number of defaults.</a:t>
          </a:r>
        </a:p>
      </dgm:t>
    </dgm:pt>
    <dgm:pt modelId="{95F2CD79-D7C5-4532-BDA6-36217A0508A7}" type="parTrans" cxnId="{31729807-58EA-4C5E-B2E9-06D19F2BAA4D}">
      <dgm:prSet/>
      <dgm:spPr/>
      <dgm:t>
        <a:bodyPr/>
        <a:lstStyle/>
        <a:p>
          <a:endParaRPr lang="en-US"/>
        </a:p>
      </dgm:t>
    </dgm:pt>
    <dgm:pt modelId="{094B6AA2-38D2-4396-9433-D897D008C85C}" type="sibTrans" cxnId="{31729807-58EA-4C5E-B2E9-06D19F2BAA4D}">
      <dgm:prSet/>
      <dgm:spPr/>
      <dgm:t>
        <a:bodyPr/>
        <a:lstStyle/>
        <a:p>
          <a:endParaRPr lang="en-US"/>
        </a:p>
      </dgm:t>
    </dgm:pt>
    <dgm:pt modelId="{75453323-5762-4706-AD84-DD46D7E2D1F6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0" cap="none" dirty="0"/>
            <a:t>Basic hyperparameters such as learning rate, number of trees, and max depth were tuned for balanced performance.</a:t>
          </a:r>
        </a:p>
      </dgm:t>
    </dgm:pt>
    <dgm:pt modelId="{75567E0D-8B75-4808-83BE-2171D657A670}" type="parTrans" cxnId="{A00792F9-C5E1-4EE3-AB0F-F257220CA01A}">
      <dgm:prSet/>
      <dgm:spPr/>
      <dgm:t>
        <a:bodyPr/>
        <a:lstStyle/>
        <a:p>
          <a:endParaRPr lang="en-US"/>
        </a:p>
      </dgm:t>
    </dgm:pt>
    <dgm:pt modelId="{A48B40D3-B05D-48FA-A9EA-84FD2D87D41A}" type="sibTrans" cxnId="{A00792F9-C5E1-4EE3-AB0F-F257220CA01A}">
      <dgm:prSet/>
      <dgm:spPr/>
      <dgm:t>
        <a:bodyPr/>
        <a:lstStyle/>
        <a:p>
          <a:endParaRPr lang="en-US"/>
        </a:p>
      </dgm:t>
    </dgm:pt>
    <dgm:pt modelId="{0A21001C-BCC1-40B7-8076-04005CFCD0A3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0" cap="none" dirty="0" err="1"/>
            <a:t>Xgboost</a:t>
          </a:r>
          <a:r>
            <a:rPr lang="en-US" sz="1400" b="0" cap="none" dirty="0"/>
            <a:t> produced a stable and efficient model suitable for credit-risk prediction tasks.</a:t>
          </a:r>
          <a:br>
            <a:rPr lang="en-US" sz="1100" cap="none" dirty="0"/>
          </a:br>
          <a:br>
            <a:rPr lang="en-US" sz="1100" cap="none" dirty="0"/>
          </a:br>
          <a:br>
            <a:rPr lang="en-US" sz="1100" cap="none" dirty="0"/>
          </a:br>
          <a:br>
            <a:rPr lang="en-US" sz="1100" cap="none" dirty="0"/>
          </a:br>
          <a:br>
            <a:rPr lang="en-US" sz="1100" cap="none" dirty="0"/>
          </a:br>
          <a:br>
            <a:rPr lang="en-US" sz="1100" cap="none" dirty="0"/>
          </a:br>
          <a:endParaRPr lang="en-US" sz="1100" cap="none" dirty="0"/>
        </a:p>
      </dgm:t>
    </dgm:pt>
    <dgm:pt modelId="{1F973678-11E4-4527-8581-47FED014B17F}" type="parTrans" cxnId="{A54BDA74-D5E5-47B1-8D89-F8423F038C34}">
      <dgm:prSet/>
      <dgm:spPr/>
      <dgm:t>
        <a:bodyPr/>
        <a:lstStyle/>
        <a:p>
          <a:endParaRPr lang="en-US"/>
        </a:p>
      </dgm:t>
    </dgm:pt>
    <dgm:pt modelId="{F486B616-E322-4DC1-9915-DEF91961C5C7}" type="sibTrans" cxnId="{A54BDA74-D5E5-47B1-8D89-F8423F038C34}">
      <dgm:prSet/>
      <dgm:spPr/>
      <dgm:t>
        <a:bodyPr/>
        <a:lstStyle/>
        <a:p>
          <a:endParaRPr lang="en-US"/>
        </a:p>
      </dgm:t>
    </dgm:pt>
    <dgm:pt modelId="{F845BD52-49B9-42C3-9C4D-0D35563A994B}" type="pres">
      <dgm:prSet presAssocID="{E7395FD1-A619-441B-9C33-75DF1228A090}" presName="root" presStyleCnt="0">
        <dgm:presLayoutVars>
          <dgm:dir/>
          <dgm:resizeHandles val="exact"/>
        </dgm:presLayoutVars>
      </dgm:prSet>
      <dgm:spPr/>
    </dgm:pt>
    <dgm:pt modelId="{62F2401E-91BF-4BC8-AB5E-4CB870180392}" type="pres">
      <dgm:prSet presAssocID="{0037E1CA-8594-41BB-AFDF-697C77CC9A6A}" presName="compNode" presStyleCnt="0"/>
      <dgm:spPr/>
    </dgm:pt>
    <dgm:pt modelId="{09B9C1C9-0D1F-4612-9314-333928F7F776}" type="pres">
      <dgm:prSet presAssocID="{0037E1CA-8594-41BB-AFDF-697C77CC9A6A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5450893-EDBE-4E74-839F-755F74BC1214}" type="pres">
      <dgm:prSet presAssocID="{0037E1CA-8594-41BB-AFDF-697C77CC9A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2AFB66C-ABF3-4DE7-8CB7-708AF82FEEB5}" type="pres">
      <dgm:prSet presAssocID="{0037E1CA-8594-41BB-AFDF-697C77CC9A6A}" presName="spaceRect" presStyleCnt="0"/>
      <dgm:spPr/>
    </dgm:pt>
    <dgm:pt modelId="{37728814-37E5-49DD-9CEC-BED0AAB2BAE0}" type="pres">
      <dgm:prSet presAssocID="{0037E1CA-8594-41BB-AFDF-697C77CC9A6A}" presName="textRect" presStyleLbl="revTx" presStyleIdx="0" presStyleCnt="4" custLinFactNeighborY="342">
        <dgm:presLayoutVars>
          <dgm:chMax val="1"/>
          <dgm:chPref val="1"/>
        </dgm:presLayoutVars>
      </dgm:prSet>
      <dgm:spPr/>
    </dgm:pt>
    <dgm:pt modelId="{C586D86C-500C-470B-BC67-52DAA1AA1A5F}" type="pres">
      <dgm:prSet presAssocID="{C8DFE21C-4D26-4B93-B584-0545F46E79CF}" presName="sibTrans" presStyleCnt="0"/>
      <dgm:spPr/>
    </dgm:pt>
    <dgm:pt modelId="{6012A0FD-887C-4091-80C4-BDDC71E38CA4}" type="pres">
      <dgm:prSet presAssocID="{1B3ECCC1-A835-4283-B7CB-851C7DD73AD5}" presName="compNode" presStyleCnt="0"/>
      <dgm:spPr/>
    </dgm:pt>
    <dgm:pt modelId="{E05FAD3E-3749-4E0B-B880-1829189860E1}" type="pres">
      <dgm:prSet presAssocID="{1B3ECCC1-A835-4283-B7CB-851C7DD73AD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4FE2EFB-8311-4697-A171-10A0E7A7F26C}" type="pres">
      <dgm:prSet presAssocID="{1B3ECCC1-A835-4283-B7CB-851C7DD73A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BC772A3-11DE-43A6-A3C1-5C04676313A5}" type="pres">
      <dgm:prSet presAssocID="{1B3ECCC1-A835-4283-B7CB-851C7DD73AD5}" presName="spaceRect" presStyleCnt="0"/>
      <dgm:spPr/>
    </dgm:pt>
    <dgm:pt modelId="{5FFCA3F3-77C8-4D2C-B0CE-C14A653BF275}" type="pres">
      <dgm:prSet presAssocID="{1B3ECCC1-A835-4283-B7CB-851C7DD73AD5}" presName="textRect" presStyleLbl="revTx" presStyleIdx="1" presStyleCnt="4">
        <dgm:presLayoutVars>
          <dgm:chMax val="1"/>
          <dgm:chPref val="1"/>
        </dgm:presLayoutVars>
      </dgm:prSet>
      <dgm:spPr/>
    </dgm:pt>
    <dgm:pt modelId="{F96C6C0A-12D5-43A6-B4ED-4822902C8A7D}" type="pres">
      <dgm:prSet presAssocID="{094B6AA2-38D2-4396-9433-D897D008C85C}" presName="sibTrans" presStyleCnt="0"/>
      <dgm:spPr/>
    </dgm:pt>
    <dgm:pt modelId="{C5E9C361-7B45-4173-BF9A-8826176B6DDB}" type="pres">
      <dgm:prSet presAssocID="{75453323-5762-4706-AD84-DD46D7E2D1F6}" presName="compNode" presStyleCnt="0"/>
      <dgm:spPr/>
    </dgm:pt>
    <dgm:pt modelId="{88E3C2FD-8B31-4E32-965F-B2690F133855}" type="pres">
      <dgm:prSet presAssocID="{75453323-5762-4706-AD84-DD46D7E2D1F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127A67E-84DE-4B57-A563-597D965CAF9A}" type="pres">
      <dgm:prSet presAssocID="{75453323-5762-4706-AD84-DD46D7E2D1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C1D0643B-4EEC-40A6-9199-6E5836E19E6B}" type="pres">
      <dgm:prSet presAssocID="{75453323-5762-4706-AD84-DD46D7E2D1F6}" presName="spaceRect" presStyleCnt="0"/>
      <dgm:spPr/>
    </dgm:pt>
    <dgm:pt modelId="{E078C111-FBE3-4C39-B08B-EBDE1C7F6A29}" type="pres">
      <dgm:prSet presAssocID="{75453323-5762-4706-AD84-DD46D7E2D1F6}" presName="textRect" presStyleLbl="revTx" presStyleIdx="2" presStyleCnt="4">
        <dgm:presLayoutVars>
          <dgm:chMax val="1"/>
          <dgm:chPref val="1"/>
        </dgm:presLayoutVars>
      </dgm:prSet>
      <dgm:spPr/>
    </dgm:pt>
    <dgm:pt modelId="{AB2E1BC5-E636-48A1-AC4C-F2763963EF39}" type="pres">
      <dgm:prSet presAssocID="{A48B40D3-B05D-48FA-A9EA-84FD2D87D41A}" presName="sibTrans" presStyleCnt="0"/>
      <dgm:spPr/>
    </dgm:pt>
    <dgm:pt modelId="{44EB2A2A-1686-42B9-A68C-F0216E3D81C4}" type="pres">
      <dgm:prSet presAssocID="{0A21001C-BCC1-40B7-8076-04005CFCD0A3}" presName="compNode" presStyleCnt="0"/>
      <dgm:spPr/>
    </dgm:pt>
    <dgm:pt modelId="{8EFE45D0-C8D9-4EA1-BC39-7BAE78D74587}" type="pres">
      <dgm:prSet presAssocID="{0A21001C-BCC1-40B7-8076-04005CFCD0A3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EB094B3-CD81-4D84-B84C-BA2734857D76}" type="pres">
      <dgm:prSet presAssocID="{0A21001C-BCC1-40B7-8076-04005CFCD0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88F9FC87-2032-4CF9-ADA6-7194F24F3080}" type="pres">
      <dgm:prSet presAssocID="{0A21001C-BCC1-40B7-8076-04005CFCD0A3}" presName="spaceRect" presStyleCnt="0"/>
      <dgm:spPr/>
    </dgm:pt>
    <dgm:pt modelId="{1F1FB5D0-9CC9-4B69-8D8E-608AA6D5E4E1}" type="pres">
      <dgm:prSet presAssocID="{0A21001C-BCC1-40B7-8076-04005CFCD0A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303300-B1C6-4609-BC19-97424D805EC4}" srcId="{E7395FD1-A619-441B-9C33-75DF1228A090}" destId="{0037E1CA-8594-41BB-AFDF-697C77CC9A6A}" srcOrd="0" destOrd="0" parTransId="{9D46520F-857E-4D1C-AB94-70C32B7CC2B9}" sibTransId="{C8DFE21C-4D26-4B93-B584-0545F46E79CF}"/>
    <dgm:cxn modelId="{F296BD03-B132-4B79-AE7D-C5B0B525DD5A}" type="presOf" srcId="{0037E1CA-8594-41BB-AFDF-697C77CC9A6A}" destId="{37728814-37E5-49DD-9CEC-BED0AAB2BAE0}" srcOrd="0" destOrd="0" presId="urn:microsoft.com/office/officeart/2018/5/layout/IconLeafLabelList"/>
    <dgm:cxn modelId="{31729807-58EA-4C5E-B2E9-06D19F2BAA4D}" srcId="{E7395FD1-A619-441B-9C33-75DF1228A090}" destId="{1B3ECCC1-A835-4283-B7CB-851C7DD73AD5}" srcOrd="1" destOrd="0" parTransId="{95F2CD79-D7C5-4532-BDA6-36217A0508A7}" sibTransId="{094B6AA2-38D2-4396-9433-D897D008C85C}"/>
    <dgm:cxn modelId="{08ACE462-CB54-4DF3-A91F-22F9CC2F6948}" type="presOf" srcId="{0A21001C-BCC1-40B7-8076-04005CFCD0A3}" destId="{1F1FB5D0-9CC9-4B69-8D8E-608AA6D5E4E1}" srcOrd="0" destOrd="0" presId="urn:microsoft.com/office/officeart/2018/5/layout/IconLeafLabelList"/>
    <dgm:cxn modelId="{D7878A4A-9A97-4AEC-85E4-7F927E8C6816}" type="presOf" srcId="{75453323-5762-4706-AD84-DD46D7E2D1F6}" destId="{E078C111-FBE3-4C39-B08B-EBDE1C7F6A29}" srcOrd="0" destOrd="0" presId="urn:microsoft.com/office/officeart/2018/5/layout/IconLeafLabelList"/>
    <dgm:cxn modelId="{A54BDA74-D5E5-47B1-8D89-F8423F038C34}" srcId="{E7395FD1-A619-441B-9C33-75DF1228A090}" destId="{0A21001C-BCC1-40B7-8076-04005CFCD0A3}" srcOrd="3" destOrd="0" parTransId="{1F973678-11E4-4527-8581-47FED014B17F}" sibTransId="{F486B616-E322-4DC1-9915-DEF91961C5C7}"/>
    <dgm:cxn modelId="{504A0288-D126-4C97-AD82-B16C4A56B6C2}" type="presOf" srcId="{E7395FD1-A619-441B-9C33-75DF1228A090}" destId="{F845BD52-49B9-42C3-9C4D-0D35563A994B}" srcOrd="0" destOrd="0" presId="urn:microsoft.com/office/officeart/2018/5/layout/IconLeafLabelList"/>
    <dgm:cxn modelId="{D220BAD8-B7E0-4F23-854C-371361882F7C}" type="presOf" srcId="{1B3ECCC1-A835-4283-B7CB-851C7DD73AD5}" destId="{5FFCA3F3-77C8-4D2C-B0CE-C14A653BF275}" srcOrd="0" destOrd="0" presId="urn:microsoft.com/office/officeart/2018/5/layout/IconLeafLabelList"/>
    <dgm:cxn modelId="{A00792F9-C5E1-4EE3-AB0F-F257220CA01A}" srcId="{E7395FD1-A619-441B-9C33-75DF1228A090}" destId="{75453323-5762-4706-AD84-DD46D7E2D1F6}" srcOrd="2" destOrd="0" parTransId="{75567E0D-8B75-4808-83BE-2171D657A670}" sibTransId="{A48B40D3-B05D-48FA-A9EA-84FD2D87D41A}"/>
    <dgm:cxn modelId="{BA9BCE9D-E297-4671-BAAB-1AC316B4861C}" type="presParOf" srcId="{F845BD52-49B9-42C3-9C4D-0D35563A994B}" destId="{62F2401E-91BF-4BC8-AB5E-4CB870180392}" srcOrd="0" destOrd="0" presId="urn:microsoft.com/office/officeart/2018/5/layout/IconLeafLabelList"/>
    <dgm:cxn modelId="{87F841C4-E927-4A26-83A9-3B6174FDA28B}" type="presParOf" srcId="{62F2401E-91BF-4BC8-AB5E-4CB870180392}" destId="{09B9C1C9-0D1F-4612-9314-333928F7F776}" srcOrd="0" destOrd="0" presId="urn:microsoft.com/office/officeart/2018/5/layout/IconLeafLabelList"/>
    <dgm:cxn modelId="{55D0B90E-230F-41FD-BBC4-3728CE0F2378}" type="presParOf" srcId="{62F2401E-91BF-4BC8-AB5E-4CB870180392}" destId="{65450893-EDBE-4E74-839F-755F74BC1214}" srcOrd="1" destOrd="0" presId="urn:microsoft.com/office/officeart/2018/5/layout/IconLeafLabelList"/>
    <dgm:cxn modelId="{AB6722DE-45C2-4C6E-A77C-A2B0168F242E}" type="presParOf" srcId="{62F2401E-91BF-4BC8-AB5E-4CB870180392}" destId="{B2AFB66C-ABF3-4DE7-8CB7-708AF82FEEB5}" srcOrd="2" destOrd="0" presId="urn:microsoft.com/office/officeart/2018/5/layout/IconLeafLabelList"/>
    <dgm:cxn modelId="{48778C8C-3F82-4C83-8BD8-FD417AF9FA98}" type="presParOf" srcId="{62F2401E-91BF-4BC8-AB5E-4CB870180392}" destId="{37728814-37E5-49DD-9CEC-BED0AAB2BAE0}" srcOrd="3" destOrd="0" presId="urn:microsoft.com/office/officeart/2018/5/layout/IconLeafLabelList"/>
    <dgm:cxn modelId="{F8077194-C62A-4809-9448-40CCDAA1C0B4}" type="presParOf" srcId="{F845BD52-49B9-42C3-9C4D-0D35563A994B}" destId="{C586D86C-500C-470B-BC67-52DAA1AA1A5F}" srcOrd="1" destOrd="0" presId="urn:microsoft.com/office/officeart/2018/5/layout/IconLeafLabelList"/>
    <dgm:cxn modelId="{1C237EDF-3BA4-4DDC-A447-7063ED89334C}" type="presParOf" srcId="{F845BD52-49B9-42C3-9C4D-0D35563A994B}" destId="{6012A0FD-887C-4091-80C4-BDDC71E38CA4}" srcOrd="2" destOrd="0" presId="urn:microsoft.com/office/officeart/2018/5/layout/IconLeafLabelList"/>
    <dgm:cxn modelId="{2AB1BE38-CD94-4369-AD49-C974CC977F87}" type="presParOf" srcId="{6012A0FD-887C-4091-80C4-BDDC71E38CA4}" destId="{E05FAD3E-3749-4E0B-B880-1829189860E1}" srcOrd="0" destOrd="0" presId="urn:microsoft.com/office/officeart/2018/5/layout/IconLeafLabelList"/>
    <dgm:cxn modelId="{60B91863-EC54-4148-A364-575EE59B774F}" type="presParOf" srcId="{6012A0FD-887C-4091-80C4-BDDC71E38CA4}" destId="{14FE2EFB-8311-4697-A171-10A0E7A7F26C}" srcOrd="1" destOrd="0" presId="urn:microsoft.com/office/officeart/2018/5/layout/IconLeafLabelList"/>
    <dgm:cxn modelId="{7509360D-0D3C-4790-B1E6-BA196A76DFF1}" type="presParOf" srcId="{6012A0FD-887C-4091-80C4-BDDC71E38CA4}" destId="{6BC772A3-11DE-43A6-A3C1-5C04676313A5}" srcOrd="2" destOrd="0" presId="urn:microsoft.com/office/officeart/2018/5/layout/IconLeafLabelList"/>
    <dgm:cxn modelId="{F417217C-3878-4D40-85FC-21D62011F3C9}" type="presParOf" srcId="{6012A0FD-887C-4091-80C4-BDDC71E38CA4}" destId="{5FFCA3F3-77C8-4D2C-B0CE-C14A653BF275}" srcOrd="3" destOrd="0" presId="urn:microsoft.com/office/officeart/2018/5/layout/IconLeafLabelList"/>
    <dgm:cxn modelId="{1BAA92E1-25FE-4ABA-8FEE-6E40397320D1}" type="presParOf" srcId="{F845BD52-49B9-42C3-9C4D-0D35563A994B}" destId="{F96C6C0A-12D5-43A6-B4ED-4822902C8A7D}" srcOrd="3" destOrd="0" presId="urn:microsoft.com/office/officeart/2018/5/layout/IconLeafLabelList"/>
    <dgm:cxn modelId="{07CF17C8-BB57-4862-8F8D-64A0CF32BE96}" type="presParOf" srcId="{F845BD52-49B9-42C3-9C4D-0D35563A994B}" destId="{C5E9C361-7B45-4173-BF9A-8826176B6DDB}" srcOrd="4" destOrd="0" presId="urn:microsoft.com/office/officeart/2018/5/layout/IconLeafLabelList"/>
    <dgm:cxn modelId="{E25B8B18-8E7E-40BB-8828-E5926B0864AA}" type="presParOf" srcId="{C5E9C361-7B45-4173-BF9A-8826176B6DDB}" destId="{88E3C2FD-8B31-4E32-965F-B2690F133855}" srcOrd="0" destOrd="0" presId="urn:microsoft.com/office/officeart/2018/5/layout/IconLeafLabelList"/>
    <dgm:cxn modelId="{4934CE59-2DB1-477B-AF91-C6B832415416}" type="presParOf" srcId="{C5E9C361-7B45-4173-BF9A-8826176B6DDB}" destId="{4127A67E-84DE-4B57-A563-597D965CAF9A}" srcOrd="1" destOrd="0" presId="urn:microsoft.com/office/officeart/2018/5/layout/IconLeafLabelList"/>
    <dgm:cxn modelId="{7A97C17C-5A01-4F82-B35E-EB7F71BA27C8}" type="presParOf" srcId="{C5E9C361-7B45-4173-BF9A-8826176B6DDB}" destId="{C1D0643B-4EEC-40A6-9199-6E5836E19E6B}" srcOrd="2" destOrd="0" presId="urn:microsoft.com/office/officeart/2018/5/layout/IconLeafLabelList"/>
    <dgm:cxn modelId="{222E01C8-EBE3-4267-8537-52265BDB4BFC}" type="presParOf" srcId="{C5E9C361-7B45-4173-BF9A-8826176B6DDB}" destId="{E078C111-FBE3-4C39-B08B-EBDE1C7F6A29}" srcOrd="3" destOrd="0" presId="urn:microsoft.com/office/officeart/2018/5/layout/IconLeafLabelList"/>
    <dgm:cxn modelId="{0341E484-8543-4A66-A901-BBFF639B7A4E}" type="presParOf" srcId="{F845BD52-49B9-42C3-9C4D-0D35563A994B}" destId="{AB2E1BC5-E636-48A1-AC4C-F2763963EF39}" srcOrd="5" destOrd="0" presId="urn:microsoft.com/office/officeart/2018/5/layout/IconLeafLabelList"/>
    <dgm:cxn modelId="{BB34D0D1-EE42-43AA-B9CB-FB93C760D35C}" type="presParOf" srcId="{F845BD52-49B9-42C3-9C4D-0D35563A994B}" destId="{44EB2A2A-1686-42B9-A68C-F0216E3D81C4}" srcOrd="6" destOrd="0" presId="urn:microsoft.com/office/officeart/2018/5/layout/IconLeafLabelList"/>
    <dgm:cxn modelId="{05CB72A9-C8BD-4947-B46A-2CD60708001A}" type="presParOf" srcId="{44EB2A2A-1686-42B9-A68C-F0216E3D81C4}" destId="{8EFE45D0-C8D9-4EA1-BC39-7BAE78D74587}" srcOrd="0" destOrd="0" presId="urn:microsoft.com/office/officeart/2018/5/layout/IconLeafLabelList"/>
    <dgm:cxn modelId="{17D645AD-72C6-4B36-A9D1-86ABA4850295}" type="presParOf" srcId="{44EB2A2A-1686-42B9-A68C-F0216E3D81C4}" destId="{BEB094B3-CD81-4D84-B84C-BA2734857D76}" srcOrd="1" destOrd="0" presId="urn:microsoft.com/office/officeart/2018/5/layout/IconLeafLabelList"/>
    <dgm:cxn modelId="{4B68DCD7-14F3-44B3-A404-E5837D76D321}" type="presParOf" srcId="{44EB2A2A-1686-42B9-A68C-F0216E3D81C4}" destId="{88F9FC87-2032-4CF9-ADA6-7194F24F3080}" srcOrd="2" destOrd="0" presId="urn:microsoft.com/office/officeart/2018/5/layout/IconLeafLabelList"/>
    <dgm:cxn modelId="{5AE57DE4-9A93-4191-9CF2-5EBB760C74AB}" type="presParOf" srcId="{44EB2A2A-1686-42B9-A68C-F0216E3D81C4}" destId="{1F1FB5D0-9CC9-4B69-8D8E-608AA6D5E4E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9C1C9-0D1F-4612-9314-333928F7F776}">
      <dsp:nvSpPr>
        <dsp:cNvPr id="0" name=""/>
        <dsp:cNvSpPr/>
      </dsp:nvSpPr>
      <dsp:spPr>
        <a:xfrm>
          <a:off x="562927" y="310804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50893-EDBE-4E74-839F-755F74BC1214}">
      <dsp:nvSpPr>
        <dsp:cNvPr id="0" name=""/>
        <dsp:cNvSpPr/>
      </dsp:nvSpPr>
      <dsp:spPr>
        <a:xfrm>
          <a:off x="871091" y="618967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28814-37E5-49DD-9CEC-BED0AAB2BAE0}">
      <dsp:nvSpPr>
        <dsp:cNvPr id="0" name=""/>
        <dsp:cNvSpPr/>
      </dsp:nvSpPr>
      <dsp:spPr>
        <a:xfrm>
          <a:off x="100682" y="2212923"/>
          <a:ext cx="2370489" cy="167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 cap="none" dirty="0" err="1"/>
            <a:t>Xgboost</a:t>
          </a:r>
          <a:r>
            <a:rPr lang="en-US" sz="1400" b="0" kern="1200" cap="none" dirty="0"/>
            <a:t> was chosen because it performs well on structured, imbalanced financial datasets</a:t>
          </a:r>
          <a:r>
            <a:rPr lang="en-US" sz="1400" b="1" kern="1200" cap="none" dirty="0"/>
            <a:t>.</a:t>
          </a:r>
        </a:p>
      </dsp:txBody>
      <dsp:txXfrm>
        <a:off x="100682" y="2212923"/>
        <a:ext cx="2370489" cy="1674805"/>
      </dsp:txXfrm>
    </dsp:sp>
    <dsp:sp modelId="{E05FAD3E-3749-4E0B-B880-1829189860E1}">
      <dsp:nvSpPr>
        <dsp:cNvPr id="0" name=""/>
        <dsp:cNvSpPr/>
      </dsp:nvSpPr>
      <dsp:spPr>
        <a:xfrm>
          <a:off x="3348252" y="310804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FE2EFB-8311-4697-A171-10A0E7A7F26C}">
      <dsp:nvSpPr>
        <dsp:cNvPr id="0" name=""/>
        <dsp:cNvSpPr/>
      </dsp:nvSpPr>
      <dsp:spPr>
        <a:xfrm>
          <a:off x="3656416" y="618967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CA3F3-77C8-4D2C-B0CE-C14A653BF275}">
      <dsp:nvSpPr>
        <dsp:cNvPr id="0" name=""/>
        <dsp:cNvSpPr/>
      </dsp:nvSpPr>
      <dsp:spPr>
        <a:xfrm>
          <a:off x="2886007" y="2207195"/>
          <a:ext cx="2370489" cy="167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 cap="none" dirty="0"/>
            <a:t>A key parameter, </a:t>
          </a:r>
          <a:r>
            <a:rPr lang="en-US" sz="1400" b="1" i="1" kern="1200" cap="none" dirty="0" err="1"/>
            <a:t>scale_pos_weight</a:t>
          </a:r>
          <a:r>
            <a:rPr lang="en-US" sz="1400" b="0" kern="1200" cap="none" dirty="0"/>
            <a:t>, was used to compensate for the lower number of defaults.</a:t>
          </a:r>
        </a:p>
      </dsp:txBody>
      <dsp:txXfrm>
        <a:off x="2886007" y="2207195"/>
        <a:ext cx="2370489" cy="1674805"/>
      </dsp:txXfrm>
    </dsp:sp>
    <dsp:sp modelId="{88E3C2FD-8B31-4E32-965F-B2690F133855}">
      <dsp:nvSpPr>
        <dsp:cNvPr id="0" name=""/>
        <dsp:cNvSpPr/>
      </dsp:nvSpPr>
      <dsp:spPr>
        <a:xfrm>
          <a:off x="6133577" y="310804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7A67E-84DE-4B57-A563-597D965CAF9A}">
      <dsp:nvSpPr>
        <dsp:cNvPr id="0" name=""/>
        <dsp:cNvSpPr/>
      </dsp:nvSpPr>
      <dsp:spPr>
        <a:xfrm>
          <a:off x="6441741" y="618967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8C111-FBE3-4C39-B08B-EBDE1C7F6A29}">
      <dsp:nvSpPr>
        <dsp:cNvPr id="0" name=""/>
        <dsp:cNvSpPr/>
      </dsp:nvSpPr>
      <dsp:spPr>
        <a:xfrm>
          <a:off x="5671332" y="2207195"/>
          <a:ext cx="2370489" cy="167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 cap="none" dirty="0"/>
            <a:t>Basic hyperparameters such as learning rate, number of trees, and max depth were tuned for balanced performance.</a:t>
          </a:r>
        </a:p>
      </dsp:txBody>
      <dsp:txXfrm>
        <a:off x="5671332" y="2207195"/>
        <a:ext cx="2370489" cy="1674805"/>
      </dsp:txXfrm>
    </dsp:sp>
    <dsp:sp modelId="{8EFE45D0-C8D9-4EA1-BC39-7BAE78D74587}">
      <dsp:nvSpPr>
        <dsp:cNvPr id="0" name=""/>
        <dsp:cNvSpPr/>
      </dsp:nvSpPr>
      <dsp:spPr>
        <a:xfrm>
          <a:off x="8918902" y="310804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094B3-CD81-4D84-B84C-BA2734857D76}">
      <dsp:nvSpPr>
        <dsp:cNvPr id="0" name=""/>
        <dsp:cNvSpPr/>
      </dsp:nvSpPr>
      <dsp:spPr>
        <a:xfrm>
          <a:off x="9227066" y="618967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FB5D0-9CC9-4B69-8D8E-608AA6D5E4E1}">
      <dsp:nvSpPr>
        <dsp:cNvPr id="0" name=""/>
        <dsp:cNvSpPr/>
      </dsp:nvSpPr>
      <dsp:spPr>
        <a:xfrm>
          <a:off x="8456657" y="2207195"/>
          <a:ext cx="2370489" cy="1674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kern="1200" cap="none" dirty="0" err="1"/>
            <a:t>Xgboost</a:t>
          </a:r>
          <a:r>
            <a:rPr lang="en-US" sz="1400" b="0" kern="1200" cap="none" dirty="0"/>
            <a:t> produced a stable and efficient model suitable for credit-risk prediction tasks.</a:t>
          </a:r>
          <a:br>
            <a:rPr lang="en-US" sz="1100" kern="1200" cap="none" dirty="0"/>
          </a:br>
          <a:br>
            <a:rPr lang="en-US" sz="1100" kern="1200" cap="none" dirty="0"/>
          </a:br>
          <a:br>
            <a:rPr lang="en-US" sz="1100" kern="1200" cap="none" dirty="0"/>
          </a:br>
          <a:br>
            <a:rPr lang="en-US" sz="1100" kern="1200" cap="none" dirty="0"/>
          </a:br>
          <a:br>
            <a:rPr lang="en-US" sz="1100" kern="1200" cap="none" dirty="0"/>
          </a:br>
          <a:br>
            <a:rPr lang="en-US" sz="1100" kern="1200" cap="none" dirty="0"/>
          </a:br>
          <a:endParaRPr lang="en-US" sz="1100" kern="1200" cap="none" dirty="0"/>
        </a:p>
      </dsp:txBody>
      <dsp:txXfrm>
        <a:off x="8456657" y="2207195"/>
        <a:ext cx="2370489" cy="16748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D2DE3-BA8F-4189-8915-2FF3DED4D66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782F1-F08D-40A4-9315-08945D3436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19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782F1-F08D-40A4-9315-08945D34368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718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1782-9A7A-322A-0CDE-60F144E78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F4116-F026-61E3-C576-4C7C776D2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1C146-B666-0F44-97B2-733DF419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59A8E-21F0-58B9-C6F9-CDE743E0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E6634-AF5F-30ED-4AB6-3F39EA0D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50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8AB5-48B8-E339-E164-DF5BCB51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FE6F9-5946-2BB5-DD60-4C105F9D4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A9C34-141F-5ACE-CCCF-9744D963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6A540-1B52-5367-7DF1-86499AE3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AAE9B-1936-29CB-08C2-DA3CE618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8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1E0A-2732-9E19-76ED-206C261E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517F1-C765-DCFF-F27D-BDF346CFA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A3E21-5B0E-B5BE-9069-8F7C03160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E7938-DD6F-674F-B242-C429FCA7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0BF2-55EB-FED4-DA30-106B8EAC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21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86B4-A3B6-72F9-5849-87EE22B9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226A-F2B7-EA76-8BC8-CB2DD05DE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2BC9B-1266-0510-3DB4-6CD689E23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BE729-D07F-1A9E-4FB8-5802D799C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14ECC-EC05-D973-FFC4-957A06AB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5E200-9E65-D934-68BA-445B40C0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51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CE01-D8BA-318A-793B-49216DA4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A9084-C9A8-E96C-07A8-36ECC8F53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7FCE4-968F-5D26-89BF-B034C7C17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AEE27-ADF6-B3DD-D9CA-2C78278B0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F2152-66DE-A7AA-0A21-8C3DD14F6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3C21F-B530-B05E-8B08-FC2BDF1D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863A9-928F-BF8F-AE23-34D232DF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861D1-8056-CA8F-365C-49F5115D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39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0313-EA63-82C9-E97F-F7083A013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118D49-77E7-3BF8-E00E-53F629A4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4F0F0-D262-EAF2-7EEE-5095F1528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9D6A3-7852-7551-198B-D1F7ACBD0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10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81E0-738E-BF53-CC49-65485B7D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241AA-29F5-86BB-1E9C-D73FD4CF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FB4B-BBF6-6CF5-AB5C-0A60F2D0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10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41C3-75C8-C1B1-7447-511D541D4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C1D79-FB8D-BCAC-029F-9E60BED3E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70447-8516-C15A-8C5F-3DAC59182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337E8-4525-BB2F-B69B-4BD912B3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709D3-1C91-FF43-E146-8DA5BD2A2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684C-D659-8F05-070B-7C0232FD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657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5279-D0F5-86CE-B8F0-9C136238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4DB7B-59C4-81EB-1E6C-FB482B7CD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28AFC-C00B-1BE1-7D9C-0C5ABCAC9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F22CC-9E64-51DB-EDBA-F4E8E6A6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F49CA-80B0-B9E8-743C-82E0A24BE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966E0-C62D-6B09-FA87-9EA80CE4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36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A948-3107-9B59-FB74-97A6CD74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5C788-45F1-AAFF-1928-EC652BFA0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850CF-48C1-F775-0313-15628BA1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9F14F-3BB1-C3A7-9DA0-A2858317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44249-E16C-F215-9019-3E1D4F05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18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5F0FA-8ADF-BFFC-BD5F-8C061859F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E5F82-46F6-703F-249C-9947192EF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A97B7-B6F0-E607-6824-90EB847F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BA9D7-CB36-9301-4053-5D81F00E7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D21CA-B67F-4C84-5B91-D51F31F8C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29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CA1BB-2090-6417-C49A-093F9DAD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93C5C-08FD-DC1E-FDA9-31017D6B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EE608-F187-E1C8-4A94-D1372A44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E0E31-4611-42E3-98C7-7E4B0D712E98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91761-388B-97F9-432E-DC89B4265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1C17-6FAB-3B69-9AF2-3BDD3BA86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A8C02-2133-400C-BB0F-0244A0C5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01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45D3F7-AD84-1793-F16A-0A517E6A7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Credit Risk Prediction Using Machine Learning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0F95752-42E7-E29A-D22B-49EC564EE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By: Anvith Amin</a:t>
            </a:r>
            <a:br>
              <a:rPr lang="en-US">
                <a:solidFill>
                  <a:srgbClr val="FFFFFF"/>
                </a:solidFill>
              </a:rPr>
            </a:br>
            <a:endParaRPr lang="en-IN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2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C36583-CD4A-87B6-B5F6-9041BAC0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1" y="310902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Problem Statement &amp;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70B88-44B8-1C85-8CE8-8467C9EC0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081" y="1328207"/>
            <a:ext cx="11064469" cy="324865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Problem Statement</a:t>
            </a:r>
          </a:p>
          <a:p>
            <a:r>
              <a:rPr lang="en-US" sz="2300" dirty="0"/>
              <a:t>Banks lose significant money when borrowers default on loans.</a:t>
            </a:r>
          </a:p>
          <a:p>
            <a:r>
              <a:rPr lang="en-US" sz="2300" dirty="0"/>
              <a:t>At the same time, rejecting good borrowers leads to lost revenue.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362F1-B507-BC0C-4143-C3040CDB6C00}"/>
              </a:ext>
            </a:extLst>
          </p:cNvPr>
          <p:cNvSpPr txBox="1"/>
          <p:nvPr/>
        </p:nvSpPr>
        <p:spPr>
          <a:xfrm>
            <a:off x="203081" y="4485933"/>
            <a:ext cx="11654622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Project Goal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/>
              <a:t>Develop a machine learning model that predicts whether a new loan applicant is: High-risk (likely to default) and Low-risk (likely to repay)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/>
              <a:t>Using borrower and loan characteristics from the </a:t>
            </a:r>
            <a:r>
              <a:rPr lang="en-US" sz="2300" dirty="0" err="1"/>
              <a:t>LendingClub</a:t>
            </a:r>
            <a:r>
              <a:rPr lang="en-US" sz="2300" dirty="0"/>
              <a:t> 2015–2018 dataset.</a:t>
            </a:r>
          </a:p>
        </p:txBody>
      </p:sp>
    </p:spTree>
    <p:extLst>
      <p:ext uri="{BB962C8B-B14F-4D97-AF65-F5344CB8AC3E}">
        <p14:creationId xmlns:p14="http://schemas.microsoft.com/office/powerpoint/2010/main" val="401896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1CE22-22A9-E621-0CBF-D1DE12CF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Dataset Overview</a:t>
            </a:r>
            <a:endParaRPr lang="en-US" sz="4000" dirty="0">
              <a:solidFill>
                <a:srgbClr val="FFFFFF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B9418E-1F34-CAD0-AD52-6FDEFE18A702}"/>
              </a:ext>
            </a:extLst>
          </p:cNvPr>
          <p:cNvGrpSpPr/>
          <p:nvPr/>
        </p:nvGrpSpPr>
        <p:grpSpPr>
          <a:xfrm>
            <a:off x="5041903" y="1679513"/>
            <a:ext cx="6578803" cy="3978018"/>
            <a:chOff x="5026719" y="702041"/>
            <a:chExt cx="6578803" cy="397801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AFAB393-FA94-D9E5-B743-7437F58C6FBE}"/>
                </a:ext>
              </a:extLst>
            </p:cNvPr>
            <p:cNvSpPr/>
            <p:nvPr/>
          </p:nvSpPr>
          <p:spPr>
            <a:xfrm>
              <a:off x="5063539" y="702041"/>
              <a:ext cx="6541983" cy="6097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ectangle 7" descr="Money">
              <a:extLst>
                <a:ext uri="{FF2B5EF4-FFF2-40B4-BE49-F238E27FC236}">
                  <a16:creationId xmlns:a16="http://schemas.microsoft.com/office/drawing/2014/main" id="{8FCAD359-ED7B-9C79-4F2A-C68FAB92F678}"/>
                </a:ext>
              </a:extLst>
            </p:cNvPr>
            <p:cNvSpPr/>
            <p:nvPr/>
          </p:nvSpPr>
          <p:spPr>
            <a:xfrm>
              <a:off x="5186112" y="895462"/>
              <a:ext cx="223078" cy="222860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6DFE5DF-8936-CAF4-12F0-4E431F1C6619}"/>
                </a:ext>
              </a:extLst>
            </p:cNvPr>
            <p:cNvSpPr/>
            <p:nvPr/>
          </p:nvSpPr>
          <p:spPr>
            <a:xfrm>
              <a:off x="5531764" y="804292"/>
              <a:ext cx="5977946" cy="518015"/>
            </a:xfrm>
            <a:custGeom>
              <a:avLst/>
              <a:gdLst>
                <a:gd name="connsiteX0" fmla="*/ 0 w 5758289"/>
                <a:gd name="connsiteY0" fmla="*/ 0 h 498981"/>
                <a:gd name="connsiteX1" fmla="*/ 5758289 w 5758289"/>
                <a:gd name="connsiteY1" fmla="*/ 0 h 498981"/>
                <a:gd name="connsiteX2" fmla="*/ 5758289 w 5758289"/>
                <a:gd name="connsiteY2" fmla="*/ 498981 h 498981"/>
                <a:gd name="connsiteX3" fmla="*/ 0 w 5758289"/>
                <a:gd name="connsiteY3" fmla="*/ 498981 h 498981"/>
                <a:gd name="connsiteX4" fmla="*/ 0 w 5758289"/>
                <a:gd name="connsiteY4" fmla="*/ 0 h 49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8289" h="498981">
                  <a:moveTo>
                    <a:pt x="0" y="0"/>
                  </a:moveTo>
                  <a:lnTo>
                    <a:pt x="5758289" y="0"/>
                  </a:lnTo>
                  <a:lnTo>
                    <a:pt x="5758289" y="498981"/>
                  </a:lnTo>
                  <a:lnTo>
                    <a:pt x="0" y="49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809" tIns="52809" rIns="52809" bIns="52809" numCol="1" spcCol="1270" anchor="ctr" anchorCtr="0">
              <a:noAutofit/>
            </a:bodyPr>
            <a:lstStyle/>
            <a:p>
              <a:pPr defTabSz="640969">
                <a:spcBef>
                  <a:spcPct val="0"/>
                </a:spcBef>
                <a:spcAft>
                  <a:spcPct val="35000"/>
                </a:spcAft>
              </a:pPr>
              <a:r>
                <a:rPr lang="en-US" sz="1442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The </a:t>
              </a:r>
              <a:r>
                <a:rPr lang="en-US" sz="1442" kern="1200" err="1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LendingClub</a:t>
              </a:r>
              <a:r>
                <a:rPr lang="en-US" sz="1442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 Loan Data dataset covers loans issued from 2007 to 2018.</a:t>
              </a:r>
              <a:endParaRPr lang="en-US" sz="1400" kern="120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AED7046-1C26-3F07-6ECA-10AA8A557F74}"/>
                </a:ext>
              </a:extLst>
            </p:cNvPr>
            <p:cNvSpPr/>
            <p:nvPr/>
          </p:nvSpPr>
          <p:spPr>
            <a:xfrm>
              <a:off x="5063539" y="1451811"/>
              <a:ext cx="6541983" cy="69626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 descr="Database">
              <a:extLst>
                <a:ext uri="{FF2B5EF4-FFF2-40B4-BE49-F238E27FC236}">
                  <a16:creationId xmlns:a16="http://schemas.microsoft.com/office/drawing/2014/main" id="{BB6A9680-CA35-2025-FE40-51960C9EB4B4}"/>
                </a:ext>
              </a:extLst>
            </p:cNvPr>
            <p:cNvSpPr/>
            <p:nvPr/>
          </p:nvSpPr>
          <p:spPr>
            <a:xfrm>
              <a:off x="5186112" y="1688513"/>
              <a:ext cx="223078" cy="222860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278710-7FF4-B0A8-FD77-4691724E2115}"/>
                </a:ext>
              </a:extLst>
            </p:cNvPr>
            <p:cNvSpPr/>
            <p:nvPr/>
          </p:nvSpPr>
          <p:spPr>
            <a:xfrm>
              <a:off x="5594112" y="1522164"/>
              <a:ext cx="6011409" cy="518015"/>
            </a:xfrm>
            <a:custGeom>
              <a:avLst/>
              <a:gdLst>
                <a:gd name="connsiteX0" fmla="*/ 0 w 5790523"/>
                <a:gd name="connsiteY0" fmla="*/ 0 h 498981"/>
                <a:gd name="connsiteX1" fmla="*/ 5790523 w 5790523"/>
                <a:gd name="connsiteY1" fmla="*/ 0 h 498981"/>
                <a:gd name="connsiteX2" fmla="*/ 5790523 w 5790523"/>
                <a:gd name="connsiteY2" fmla="*/ 498981 h 498981"/>
                <a:gd name="connsiteX3" fmla="*/ 0 w 5790523"/>
                <a:gd name="connsiteY3" fmla="*/ 498981 h 498981"/>
                <a:gd name="connsiteX4" fmla="*/ 0 w 5790523"/>
                <a:gd name="connsiteY4" fmla="*/ 0 h 49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0523" h="498981">
                  <a:moveTo>
                    <a:pt x="0" y="0"/>
                  </a:moveTo>
                  <a:lnTo>
                    <a:pt x="5790523" y="0"/>
                  </a:lnTo>
                  <a:lnTo>
                    <a:pt x="5790523" y="498981"/>
                  </a:lnTo>
                  <a:lnTo>
                    <a:pt x="0" y="49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809" tIns="52809" rIns="52809" bIns="52809" numCol="1" spcCol="1270" anchor="ctr" anchorCtr="0">
              <a:noAutofit/>
            </a:bodyPr>
            <a:lstStyle/>
            <a:p>
              <a:pPr defTabSz="640969">
                <a:spcBef>
                  <a:spcPct val="0"/>
                </a:spcBef>
                <a:spcAft>
                  <a:spcPct val="35000"/>
                </a:spcAft>
              </a:pPr>
              <a:r>
                <a:rPr lang="en-US" sz="1442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For consistency and better data quality, we filtered the dataset to include loans issued only between 2015 and 2018.</a:t>
              </a:r>
              <a:endParaRPr lang="en-US" sz="1400" kern="120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854D4C4-39E8-621E-2019-276727DCBBAE}"/>
                </a:ext>
              </a:extLst>
            </p:cNvPr>
            <p:cNvSpPr/>
            <p:nvPr/>
          </p:nvSpPr>
          <p:spPr>
            <a:xfrm>
              <a:off x="5063539" y="2277580"/>
              <a:ext cx="6541983" cy="929527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 descr="Dollar">
              <a:extLst>
                <a:ext uri="{FF2B5EF4-FFF2-40B4-BE49-F238E27FC236}">
                  <a16:creationId xmlns:a16="http://schemas.microsoft.com/office/drawing/2014/main" id="{8358C9D2-8CAD-24DA-3742-E15BFC1B944B}"/>
                </a:ext>
              </a:extLst>
            </p:cNvPr>
            <p:cNvSpPr/>
            <p:nvPr/>
          </p:nvSpPr>
          <p:spPr>
            <a:xfrm>
              <a:off x="5207365" y="2644055"/>
              <a:ext cx="223078" cy="222860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8F173F-0640-7192-DC05-23A0C32D3D38}"/>
                </a:ext>
              </a:extLst>
            </p:cNvPr>
            <p:cNvSpPr/>
            <p:nvPr/>
          </p:nvSpPr>
          <p:spPr>
            <a:xfrm>
              <a:off x="5541983" y="2510503"/>
              <a:ext cx="6011409" cy="518015"/>
            </a:xfrm>
            <a:custGeom>
              <a:avLst/>
              <a:gdLst>
                <a:gd name="connsiteX0" fmla="*/ 0 w 5790523"/>
                <a:gd name="connsiteY0" fmla="*/ 0 h 498981"/>
                <a:gd name="connsiteX1" fmla="*/ 5790523 w 5790523"/>
                <a:gd name="connsiteY1" fmla="*/ 0 h 498981"/>
                <a:gd name="connsiteX2" fmla="*/ 5790523 w 5790523"/>
                <a:gd name="connsiteY2" fmla="*/ 498981 h 498981"/>
                <a:gd name="connsiteX3" fmla="*/ 0 w 5790523"/>
                <a:gd name="connsiteY3" fmla="*/ 498981 h 498981"/>
                <a:gd name="connsiteX4" fmla="*/ 0 w 5790523"/>
                <a:gd name="connsiteY4" fmla="*/ 0 h 49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0523" h="498981">
                  <a:moveTo>
                    <a:pt x="0" y="0"/>
                  </a:moveTo>
                  <a:lnTo>
                    <a:pt x="5790523" y="0"/>
                  </a:lnTo>
                  <a:lnTo>
                    <a:pt x="5790523" y="498981"/>
                  </a:lnTo>
                  <a:lnTo>
                    <a:pt x="0" y="49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809" tIns="52809" rIns="52809" bIns="52809" numCol="1" spcCol="1270" anchor="ctr" anchorCtr="0">
              <a:noAutofit/>
            </a:bodyPr>
            <a:lstStyle/>
            <a:p>
              <a:pPr defTabSz="732536">
                <a:spcBef>
                  <a:spcPct val="0"/>
                </a:spcBef>
                <a:spcAft>
                  <a:spcPct val="35000"/>
                </a:spcAft>
              </a:pPr>
              <a:r>
                <a:rPr lang="en-US" sz="1442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It contains borrower details, loan terms, interest rates, credit history, and repayment outcomes.</a:t>
              </a:r>
              <a:endParaRPr lang="en-US" sz="1400" kern="120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1A85217-4A67-1401-F29B-A139B436529B}"/>
                </a:ext>
              </a:extLst>
            </p:cNvPr>
            <p:cNvSpPr/>
            <p:nvPr/>
          </p:nvSpPr>
          <p:spPr>
            <a:xfrm>
              <a:off x="5026719" y="3478673"/>
              <a:ext cx="6541983" cy="59457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9" name="Rectangle 28" descr="Statistics">
              <a:extLst>
                <a:ext uri="{FF2B5EF4-FFF2-40B4-BE49-F238E27FC236}">
                  <a16:creationId xmlns:a16="http://schemas.microsoft.com/office/drawing/2014/main" id="{90056396-4B7D-D33E-8DA7-199D8DFBEA18}"/>
                </a:ext>
              </a:extLst>
            </p:cNvPr>
            <p:cNvSpPr/>
            <p:nvPr/>
          </p:nvSpPr>
          <p:spPr>
            <a:xfrm>
              <a:off x="5250236" y="3675567"/>
              <a:ext cx="223078" cy="222860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8A656B4-2209-9566-05A3-AE58FE1C074D}"/>
                </a:ext>
              </a:extLst>
            </p:cNvPr>
            <p:cNvSpPr/>
            <p:nvPr/>
          </p:nvSpPr>
          <p:spPr>
            <a:xfrm>
              <a:off x="5557293" y="3596910"/>
              <a:ext cx="6011409" cy="1083149"/>
            </a:xfrm>
            <a:custGeom>
              <a:avLst/>
              <a:gdLst>
                <a:gd name="connsiteX0" fmla="*/ 0 w 5790523"/>
                <a:gd name="connsiteY0" fmla="*/ 0 h 1043350"/>
                <a:gd name="connsiteX1" fmla="*/ 5790523 w 5790523"/>
                <a:gd name="connsiteY1" fmla="*/ 0 h 1043350"/>
                <a:gd name="connsiteX2" fmla="*/ 5790523 w 5790523"/>
                <a:gd name="connsiteY2" fmla="*/ 1043350 h 1043350"/>
                <a:gd name="connsiteX3" fmla="*/ 0 w 5790523"/>
                <a:gd name="connsiteY3" fmla="*/ 1043350 h 1043350"/>
                <a:gd name="connsiteX4" fmla="*/ 0 w 5790523"/>
                <a:gd name="connsiteY4" fmla="*/ 0 h 10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0523" h="1043350">
                  <a:moveTo>
                    <a:pt x="0" y="0"/>
                  </a:moveTo>
                  <a:lnTo>
                    <a:pt x="5790523" y="0"/>
                  </a:lnTo>
                  <a:lnTo>
                    <a:pt x="5790523" y="1043350"/>
                  </a:lnTo>
                  <a:lnTo>
                    <a:pt x="0" y="10433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809" tIns="52809" rIns="52809" bIns="52809" numCol="1" spcCol="1270" anchor="ctr" anchorCtr="0">
              <a:noAutofit/>
            </a:bodyPr>
            <a:lstStyle/>
            <a:p>
              <a:pPr defTabSz="640969">
                <a:spcBef>
                  <a:spcPct val="0"/>
                </a:spcBef>
                <a:spcAft>
                  <a:spcPct val="35000"/>
                </a:spcAft>
              </a:pPr>
              <a:r>
                <a:rPr lang="en-US" sz="1442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  <a:t>This dataset is widely used in credit risk modelling because of its real-world financial relevance.</a:t>
              </a:r>
              <a:br>
                <a:rPr lang="en-US" sz="1442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</a:br>
              <a:br>
                <a:rPr lang="en-US" sz="1442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</a:br>
              <a:br>
                <a:rPr lang="en-US" sz="1442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rPr>
              </a:br>
              <a:endParaRPr lang="en-US" sz="1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2640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CDB7F-F8A3-C5F9-F260-98C79692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B34AD1CE-750B-DF20-9D33-8179BB48C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63F746B-6C7B-5F37-85F9-B11BE22D5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7E4EE92-943C-A886-33B1-7B924DA8B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BB54396-A00E-B9A0-65E2-941329B75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F4B5A283-8ABA-F9DD-0144-6A7521AD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12956C4-903F-C2B1-205C-8BA8772A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2557D-1188-11D7-C417-A223397E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Project flow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FADE08-9B54-9D96-455E-72C751ED5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111" y="655972"/>
            <a:ext cx="5926114" cy="5546047"/>
          </a:xfrm>
        </p:spPr>
        <p:txBody>
          <a:bodyPr anchor="ctr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Load </a:t>
            </a:r>
            <a:r>
              <a:rPr lang="en-IN" sz="2400" dirty="0" err="1"/>
              <a:t>LendingClub</a:t>
            </a:r>
            <a:r>
              <a:rPr lang="en-IN" sz="2400" dirty="0"/>
              <a:t> Dataset (2007–2018)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Filter loans issued between 2015–2018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Clean &amp; preprocess the data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Exploratory Data Analysis (EDA)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Feature selection (financial + credit variables)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Considered Sample size = 50000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One-hot encoding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Train/Test split (80–20 stratified)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 </a:t>
            </a:r>
            <a:r>
              <a:rPr lang="en-IN" sz="2400" dirty="0" err="1"/>
              <a:t>XGBoost</a:t>
            </a:r>
            <a:r>
              <a:rPr lang="en-IN" sz="2400" dirty="0"/>
              <a:t> model training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 Evaluation (Confusion Matrix, Recall, FPR, AUC)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 Business cost analysis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1978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E7E41-C7A4-2DE3-9BA7-3EFFF4A1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C3A760-BBD0-07E7-8FE2-7CE20A1A6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545888-2F67-1E8E-07AA-B32251B02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5CC3C8-B5C4-8BB4-0651-8EC4B6A03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DF633C-97FF-6D05-39B6-8B7841D8C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85CBE7-4BEA-AC22-5BE9-52E0C8043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08DC9-8E53-02CE-AB56-2D152F08A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1" y="310902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Data Preprocessing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0D7ADE-DCCC-6CDA-4B03-5B77B14FD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50" y="1988888"/>
            <a:ext cx="11336041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Irrelevant or leakage columns </a:t>
            </a:r>
            <a:r>
              <a:rPr lang="en-US" sz="2400" dirty="0"/>
              <a:t>such as IDs, URLs, and payment timestamps were removed.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Percentage columns</a:t>
            </a:r>
            <a:r>
              <a:rPr lang="en-US" sz="2400" dirty="0"/>
              <a:t> like interest rate and revolving utilization were cleaned and converted into numeric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Missing numerical values </a:t>
            </a:r>
            <a:r>
              <a:rPr lang="en-US" sz="2400" dirty="0"/>
              <a:t>were filled using median, and missing categorical entries were labeled as “Unknown.”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i="1" dirty="0"/>
              <a:t>loan status </a:t>
            </a:r>
            <a:r>
              <a:rPr lang="en-US" sz="2400" dirty="0"/>
              <a:t>was converted into a binary target variable for modeling.</a:t>
            </a:r>
          </a:p>
          <a:p>
            <a:br>
              <a:rPr lang="en-US" sz="2400" dirty="0"/>
            </a:br>
            <a:r>
              <a:rPr lang="en-US" sz="2400" dirty="0"/>
              <a:t>These preprocessing steps ensured the dataset was clean, consistent, and ready for EDA and feature engineering.</a:t>
            </a:r>
          </a:p>
          <a:p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366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5C982-63CF-83D4-D1DF-D77904B7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D7005-176B-F579-500C-DFF95157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8C22595-01DC-EEC1-2A68-1A2092E69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695" y="649480"/>
            <a:ext cx="750945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EDA showed a strong imbalance between Fully Paid and Charged Off loans.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Key variables such as loan amount, interest rate, and DTI displayed meaningful patterns related to borrower behavior.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 correlation heatmap was used to understand relationships among numerical features.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EDA helped validate feature choice and confirmed that the dataset required imbalance handling.</a:t>
            </a:r>
            <a:br>
              <a:rPr lang="en-US" sz="2200" dirty="0"/>
            </a:b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These insights guided the modeling decisions in the next stages.</a:t>
            </a:r>
            <a:br>
              <a:rPr lang="en-US" sz="24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7983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AFEF2-5C02-DFA9-C672-2335842F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B99145-67CF-90A3-BC24-FF6EE388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A69A92-3B84-7ED6-FEA9-FC95E0760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2CE7CC-3E42-4F1D-92EB-51EBA112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531BC-C637-3467-DE97-7447C644C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8A3C2-7287-AE8E-9987-4B4A5AE67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F2DD0-02C7-77CD-75A8-6E5354C4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1" y="310902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Feature Selection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565401-EE9D-3B48-1FE7-DD02675CFE61}"/>
              </a:ext>
            </a:extLst>
          </p:cNvPr>
          <p:cNvSpPr txBox="1"/>
          <p:nvPr/>
        </p:nvSpPr>
        <p:spPr>
          <a:xfrm>
            <a:off x="472501" y="2087092"/>
            <a:ext cx="111792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From the distribution plots, we saw clear patterns in variables like loan amount, interest rate, DTI, and revolving balance, so these were included.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Correlation analysis showed no severe multicollinearity, so all selected features were retained.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final feature set improved both model interpretability and predictive accuracy.</a:t>
            </a:r>
          </a:p>
        </p:txBody>
      </p:sp>
    </p:spTree>
    <p:extLst>
      <p:ext uri="{BB962C8B-B14F-4D97-AF65-F5344CB8AC3E}">
        <p14:creationId xmlns:p14="http://schemas.microsoft.com/office/powerpoint/2010/main" val="87617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2531A-8CEA-A602-6CB1-FDB98FD28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A1CCE-E055-E57F-5FFD-A7D45BA9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592242-54DD-857F-1C5D-ABCDD82AC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2BEDCA-0E1B-E36C-3C85-37B6FED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0B5804-0D72-EEA0-46F3-A660D2D97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9B5B2A-901A-C35F-88F1-06DC349CA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F9DF5-AC69-C6D7-CBC3-901D7AC8D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1" y="310902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Train-Test Split &amp; One-Hot Encoding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B2A13-4773-C410-1694-DA5C40D2419C}"/>
              </a:ext>
            </a:extLst>
          </p:cNvPr>
          <p:cNvSpPr txBox="1"/>
          <p:nvPr/>
        </p:nvSpPr>
        <p:spPr>
          <a:xfrm>
            <a:off x="472501" y="2005447"/>
            <a:ext cx="111792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One-hot encoding was applied to convert categorical variables </a:t>
            </a:r>
          </a:p>
          <a:p>
            <a:r>
              <a:rPr lang="en-US" sz="2400" dirty="0"/>
              <a:t>    such as grade, sub-grade, home ownership, and loan purpose—into numeric    columns that the model can understand.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After encoding, the dataset became fully numeric, which is required for training </a:t>
            </a:r>
            <a:r>
              <a:rPr lang="en-US" sz="2400" dirty="0" err="1"/>
              <a:t>XGBoost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Performed an </a:t>
            </a:r>
            <a:r>
              <a:rPr lang="en-US" sz="2400" b="1" dirty="0"/>
              <a:t>80–20 stratified train–test split</a:t>
            </a:r>
            <a:r>
              <a:rPr lang="en-US" sz="2400" dirty="0"/>
              <a:t>, keeping the proportion of good vs. bad loans the same in both 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ensures the model learns realistic patterns during training and is evaluated fairly on unseen data.</a:t>
            </a:r>
          </a:p>
        </p:txBody>
      </p:sp>
    </p:spTree>
    <p:extLst>
      <p:ext uri="{BB962C8B-B14F-4D97-AF65-F5344CB8AC3E}">
        <p14:creationId xmlns:p14="http://schemas.microsoft.com/office/powerpoint/2010/main" val="267461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501FA-4D13-6E1D-EEEC-CCF91371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21FC2-7FBC-C375-F503-FE277533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829" y="349112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XGBoost Model Training</a:t>
            </a:r>
          </a:p>
        </p:txBody>
      </p:sp>
      <p:graphicFrame>
        <p:nvGraphicFramePr>
          <p:cNvPr id="18" name="TextBox 5">
            <a:extLst>
              <a:ext uri="{FF2B5EF4-FFF2-40B4-BE49-F238E27FC236}">
                <a16:creationId xmlns:a16="http://schemas.microsoft.com/office/drawing/2014/main" id="{8A7BDC04-1820-2AD2-62A0-A63C2C6169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89904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388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210A9-9789-A40D-5156-665E7C30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B4338D-FFD1-7293-1BA9-B6C8ECA0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1BBB45-46EF-5F3B-37A3-E9852D3DF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637D03-540B-9836-1212-A4EA84D5B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4C359E-0D34-0B69-6219-E698A0916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EB654-508B-BA54-9E25-56BF1D8A8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FBCEA-6BCB-3666-B148-382DB5A13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1" y="310902"/>
            <a:ext cx="9895951" cy="103366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Model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BC53E8-37D8-3484-BADA-DB574631A42A}"/>
              </a:ext>
            </a:extLst>
          </p:cNvPr>
          <p:cNvSpPr txBox="1"/>
          <p:nvPr/>
        </p:nvSpPr>
        <p:spPr>
          <a:xfrm>
            <a:off x="361028" y="1793487"/>
            <a:ext cx="11178725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Considered Two threshold values 0.5 and 0.3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confusion matrix showed how well the model separated high-risk and low-risk borrowers.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Recall was emphasized because identifying potential defaulters is critical for lenders.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false positive rate was monitored to avoid rejecting too many safe borrowers.</a:t>
            </a:r>
            <a:br>
              <a:rPr lang="en-US" sz="2400" dirty="0"/>
            </a:br>
            <a:r>
              <a:rPr lang="en-US" sz="2400" dirty="0"/>
              <a:t>The ROC–AUC score measured the model’s ability to distinguish between good and bad loans.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Overall, the evaluation metrics demonstrated strong model performance.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dirty="0"/>
            </a:br>
            <a:br>
              <a:rPr lang="en-US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6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EB1F9-81F1-ADE7-D192-FB1D2D31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DBC50C-E6D5-AA2A-6D03-52A444FF4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38C47-602C-3841-3CD2-7509C2C38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7FCCF-2BB3-EC06-9929-AEECEE4DA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7468AC-236F-3C35-FEBF-37C2BC982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17B3D1-9088-3F9C-E14E-B40493DBB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919B0-D8FE-FCD7-2103-B236765E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01" y="310902"/>
            <a:ext cx="9895951" cy="1033669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bg1"/>
                </a:solidFill>
              </a:rPr>
              <a:t>Business Cost Impact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92497-6697-3CF2-32FA-634A1CE00531}"/>
              </a:ext>
            </a:extLst>
          </p:cNvPr>
          <p:cNvSpPr txBox="1"/>
          <p:nvPr/>
        </p:nvSpPr>
        <p:spPr>
          <a:xfrm>
            <a:off x="459350" y="2029462"/>
            <a:ext cx="11178725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Banks face financial loss when high-risk borrowers are incorrectly classified as low-risk and approved.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false negative (approving a risky borrower) is far more costly than a false positive (rejecting a safe borrower).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model’s recall and false-positive rate directly impact these business outcomes.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By identifying more high-risk borrowers correctly, the model helps reduce bad loan approvals.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leads to improved portfolio quality and stronger financial decision-making for lenders.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dirty="0"/>
            </a:br>
            <a:br>
              <a:rPr lang="en-US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98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99008-434B-F331-F8AC-E6BCE2CA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C69B3A8-CA42-3715-0AD6-67C000F44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DE0A75-7397-4EFC-0198-E65233064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9D50F0-5A7C-B9D1-339A-181DB21E9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EEA278-921B-38FE-A347-EFD7E8E7A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1718EA-2E6B-139D-F8CB-BA96B42A3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708E4F-0030-137C-975A-BD36005B2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0954" y="2067680"/>
            <a:ext cx="5270090" cy="3470567"/>
          </a:xfrm>
        </p:spPr>
        <p:txBody>
          <a:bodyPr>
            <a:normAutofit/>
          </a:bodyPr>
          <a:lstStyle/>
          <a:p>
            <a:pPr algn="r"/>
            <a:r>
              <a:rPr lang="en-IN" sz="8800" dirty="0">
                <a:solidFill>
                  <a:srgbClr val="FFFFFF"/>
                </a:solidFill>
              </a:rPr>
              <a:t>Thank You</a:t>
            </a:r>
            <a:br>
              <a:rPr lang="en-IN" sz="8800" dirty="0">
                <a:solidFill>
                  <a:srgbClr val="FFFFFF"/>
                </a:solidFill>
              </a:rPr>
            </a:br>
            <a:r>
              <a:rPr lang="en-IN" sz="4800" dirty="0">
                <a:solidFill>
                  <a:srgbClr val="FFFFFF"/>
                </a:solidFill>
              </a:rPr>
              <a:t> </a:t>
            </a:r>
            <a:br>
              <a:rPr lang="en-IN" sz="4800" dirty="0">
                <a:solidFill>
                  <a:srgbClr val="FFFFFF"/>
                </a:solidFill>
              </a:rPr>
            </a:b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B7AF4E-4551-8FBE-1D33-3D87354F0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7FD703-7DA1-AAB4-DB17-4EAF591E6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09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5247</TotalTime>
  <Words>811</Words>
  <Application>Microsoft Office PowerPoint</Application>
  <PresentationFormat>Widescreen</PresentationFormat>
  <Paragraphs>80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Credit Risk Prediction Using Machine Learning</vt:lpstr>
      <vt:lpstr>Problem Statement &amp; Goal</vt:lpstr>
      <vt:lpstr>Dataset Overview</vt:lpstr>
      <vt:lpstr>Project flow</vt:lpstr>
      <vt:lpstr>Data Preprocessing</vt:lpstr>
      <vt:lpstr>Exploratory Data Analysis (EDA)</vt:lpstr>
      <vt:lpstr>Feature Selection</vt:lpstr>
      <vt:lpstr>Train-Test Split &amp; One-Hot Encoding</vt:lpstr>
      <vt:lpstr>XGBoost Model Training</vt:lpstr>
      <vt:lpstr>Model Evaluation</vt:lpstr>
      <vt:lpstr>Business Cost Impact</vt:lpstr>
      <vt:lpstr>Thank You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Dhanashree Bhat</dc:creator>
  <cp:lastModifiedBy>Dhanashree Bhat</cp:lastModifiedBy>
  <cp:revision>7</cp:revision>
  <dcterms:created xsi:type="dcterms:W3CDTF">2025-12-10T00:54:56Z</dcterms:created>
  <dcterms:modified xsi:type="dcterms:W3CDTF">2025-12-13T16:27:16Z</dcterms:modified>
</cp:coreProperties>
</file>